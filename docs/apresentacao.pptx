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4"/>
    <p:sldId id="259" r:id="rId5"/>
    <p:sldId id="260" r:id="rId6"/>
    <p:sldId id="262" r:id="rId8"/>
    <p:sldId id="265" r:id="rId11"/>
    <p:sldId id="266" r:id="rId12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686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 ABERTO  ·  ITOM / DISCOVERY / CMDB / CSDM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141732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 Baseline Diagnostic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7E2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objetiva da maturidade da CMDB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A9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técnico determinístico, somente leitura, executado na própria instância. Veredito GO / NO-GO por domínio, alinhado às boas práticas ServiceNow e ao CSDM.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868680" cy="310896"/>
          </a:xfrm>
          <a:prstGeom prst="rect">
            <a:avLst/>
          </a:prstGeom>
          <a:solidFill>
            <a:srgbClr val="F3E0DE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9776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32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00200" y="3977640"/>
            <a:ext cx="868680" cy="310896"/>
          </a:xfrm>
          <a:prstGeom prst="rect">
            <a:avLst/>
          </a:prstGeom>
          <a:solidFill>
            <a:srgbClr val="F3EADA"/>
          </a:solidFill>
          <a:ln w="12700">
            <a:solidFill>
              <a:srgbClr val="B884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39776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4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3977640"/>
            <a:ext cx="868680" cy="310896"/>
          </a:xfrm>
          <a:prstGeom prst="rect">
            <a:avLst/>
          </a:prstGeom>
          <a:solidFill>
            <a:srgbClr val="E3EFE6"/>
          </a:solidFill>
          <a:ln w="12700">
            <a:solidFill>
              <a:srgbClr val="2F7D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397764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7D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93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ServiceNow ITOM · CMDB · CSDM   ·   Junho de 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PROBLEMA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baseline objetivo, a CMDB não é confiável como base de ITOM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77640" cy="1298448"/>
          </a:xfrm>
          <a:prstGeom prst="rect">
            <a:avLst/>
          </a:prstGeom>
          <a:solidFill>
            <a:srgbClr val="F3E0DE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91640"/>
            <a:ext cx="73152" cy="1298448"/>
          </a:xfrm>
          <a:prstGeom prst="rect">
            <a:avLst/>
          </a:prstGeom>
          <a:solidFill>
            <a:srgbClr val="A8323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379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Maturidade desconhecida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22199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medição objetiva, a saúde real da CMDB é percepção — não evidência. Não se sabe o que corrigir primeiro.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663440" y="1691640"/>
            <a:ext cx="3977640" cy="1298448"/>
          </a:xfrm>
          <a:prstGeom prst="rect">
            <a:avLst/>
          </a:prstGeom>
          <a:solidFill>
            <a:srgbClr val="F3E0DE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691640"/>
            <a:ext cx="73152" cy="1298448"/>
          </a:xfrm>
          <a:prstGeom prst="rect">
            <a:avLst/>
          </a:prstGeom>
          <a:solidFill>
            <a:srgbClr val="A83232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83794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Expectativa desalinhada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892040" y="2221992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referência de antes/depois, não há como provar o efeito de uma remediação na qualidade da base.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191256"/>
            <a:ext cx="3977640" cy="1298448"/>
          </a:xfrm>
          <a:prstGeom prst="rect">
            <a:avLst/>
          </a:prstGeom>
          <a:solidFill>
            <a:srgbClr val="F3E0DE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191256"/>
            <a:ext cx="73152" cy="1298448"/>
          </a:xfrm>
          <a:prstGeom prst="rect">
            <a:avLst/>
          </a:prstGeom>
          <a:solidFill>
            <a:srgbClr val="A8323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Retrabalho e arquitetura frágil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3721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de ITOM evoluem sobre uma base instável — duplicatas, staleness e identidade frágil quebram Discovery, Health e Service Mapping.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3191256"/>
            <a:ext cx="3977640" cy="1298448"/>
          </a:xfrm>
          <a:prstGeom prst="rect">
            <a:avLst/>
          </a:prstGeom>
          <a:solidFill>
            <a:srgbClr val="F3E0DE"/>
          </a:solidFill>
          <a:ln w="12700">
            <a:solidFill>
              <a:srgbClr val="A832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3191256"/>
            <a:ext cx="73152" cy="1298448"/>
          </a:xfrm>
          <a:prstGeom prst="rect">
            <a:avLst/>
          </a:prstGeom>
          <a:solidFill>
            <a:srgbClr val="A8323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3375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7A24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tradicional é invasivo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892040" y="3721608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base normalmente exige acesso à produção e coleta manual — lento, arriscado e difícil de repetir.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CMDB BASELINE DIAGNOSTIC · VISÃO GERAL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Quem opera a instância executa o diagnóstico — sem acesso externo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4160520" cy="2880360"/>
          </a:xfrm>
          <a:prstGeom prst="rect">
            <a:avLst/>
          </a:prstGeom>
          <a:solidFill>
            <a:srgbClr val="12243B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2542032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Self-service, read-only, dentro da própria instância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77240" y="3456432"/>
            <a:ext cx="3611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AFC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Script Include de leitura roda em minutos, sem credenciais externas e sem expor a produção. Saem métricas e contagens — nunca conteúdo de CI.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892040" y="1600200"/>
            <a:ext cx="3749040" cy="841248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5623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32120" y="1709928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Determinístico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5532120" y="1993392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Veredito FAIL / WARN / PASS por 9 domínios — sem percepção subjetiva.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892040" y="2578608"/>
            <a:ext cx="3749040" cy="841248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83464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2688336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Alimenta a documentação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5532120" y="29718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PDF/HTML exportado do Console vira insumo de documentação técnica — alimenta o TDD, não o substitui.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92040" y="3557016"/>
            <a:ext cx="3749040" cy="841248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81304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32120" y="3666744"/>
            <a:ext cx="3017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Ancorado no CSDM 5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5532120" y="395020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alinhados às boas práticas ServiceNow, não a customizações locais.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CMDB BASELINE DIAGNOSTIC · VISÃO GERAL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COMPONENTES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compõe o framework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45920"/>
            <a:ext cx="397764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865376"/>
            <a:ext cx="420624" cy="420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7922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CMDBBaselineDiagnostic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0939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 Include read-only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04088" y="2404872"/>
            <a:ext cx="3575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domínios · veredito determinístico · plano de correção P0/P1/P2 · versionado por release (Tokyo→Xanadu).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645920"/>
            <a:ext cx="397764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865376"/>
            <a:ext cx="420624" cy="4206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79222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Console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440680" y="2093976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HTML standalone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864608" y="2404872"/>
            <a:ext cx="3575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Parseia o log → dashboard, indicadores, riscos, esforço, PDF e comparativo de execuções (antes/depois).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3182112"/>
            <a:ext cx="397764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0156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3284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TDDs (Discovery/CMDB · ITAM)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1280160" y="36301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Documentação de saída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704088" y="3941064"/>
            <a:ext cx="3575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com As-Is, To-Be, IRE, Service Mapping, HAM/SAM, RACI e riscos — recebe o baseline do diagnóstico direto.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3182112"/>
            <a:ext cx="3977640" cy="1371600"/>
          </a:xfrm>
          <a:prstGeom prst="rect">
            <a:avLst/>
          </a:prstGeom>
          <a:solidFill>
            <a:srgbClr val="EEF3F8"/>
          </a:solidFill>
          <a:ln w="12700">
            <a:solidFill>
              <a:srgbClr val="CBD8E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40156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332841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CSDM 5 como régua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440680" y="363016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Padrão de referência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864608" y="3941064"/>
            <a:ext cx="35753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relacionamentos e estágios crawl→walk→run→fly como base objetiva do diagnóstico.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CMDB BASELINE DIAGNOSTIC · VISÃO GERAL</a:t>
            </a:r>
            <a:endParaRPr lang="en-US" sz="800" dirty="0"/>
          </a:p>
        </p:txBody>
      </p:sp>
      <p:sp>
        <p:nvSpPr>
          <p:cNvPr id="25" name="Text 19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SEGURANÇA E PRIVACIDADE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que é seguro executar na instância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77640" cy="1298448"/>
          </a:xfrm>
          <a:prstGeom prst="rect">
            <a:avLst/>
          </a:prstGeom>
          <a:solidFill>
            <a:srgbClr val="E3EFE6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1109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379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“Não dou acesso à produção”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04088" y="2331720"/>
            <a:ext cx="3575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0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preciso. Quem opera a instância executa o script; nenhum acesso externo nem credencial é necessário.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691640"/>
            <a:ext cx="3977640" cy="1298448"/>
          </a:xfrm>
          <a:prstGeom prst="rect">
            <a:avLst/>
          </a:prstGeom>
          <a:solidFill>
            <a:srgbClr val="E3EFE6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911096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8379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 os dados sensíveis?”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64608" y="2331720"/>
            <a:ext cx="3575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0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 carrega contagens, status e nomes de tabela — não conteúdo de CI. Compatível com LGPD e políticas de segurança.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3191256"/>
            <a:ext cx="3977640" cy="1298448"/>
          </a:xfrm>
          <a:prstGeom prst="rect">
            <a:avLst/>
          </a:prstGeom>
          <a:solidFill>
            <a:srgbClr val="E3EFE6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410712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“É invasivo?”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04088" y="3831336"/>
            <a:ext cx="3575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0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leitura (GlideRecord query). Sem escrita, sem alterar IRE, sem efeito colateral no ambiente.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663440" y="3191256"/>
            <a:ext cx="3977640" cy="1298448"/>
          </a:xfrm>
          <a:prstGeom prst="rect">
            <a:avLst/>
          </a:prstGeom>
          <a:solidFill>
            <a:srgbClr val="E3EFE6"/>
          </a:solidFill>
          <a:ln w="12700">
            <a:solidFill>
              <a:srgbClr val="2F7D4F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3410712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3375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55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 se eu não souber ler?”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64608" y="3831336"/>
            <a:ext cx="35753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3054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Console traduz o log em veredito visual + PDF; a leitura é guiada e não exige análise manual do log bruto.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CMDB BASELINE DIAGNOSTIC · VISÃO GERAL</a:t>
            </a:r>
            <a:endParaRPr lang="en-US" sz="800" dirty="0"/>
          </a:p>
        </p:txBody>
      </p:sp>
      <p:sp>
        <p:nvSpPr>
          <p:cNvPr id="21" name="Text 15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6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&amp; GOVERNANÇA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3000" b="1" dirty="0">
                <a:solidFill>
                  <a:srgbClr val="1224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antecipados e mitigações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45920"/>
          <a:ext cx="8138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RISCO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MITIGAÇÃO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veredito por variação de tabela/campo entre releases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 já detecta tabela de reconciliation e usa last_discovered; validar o dicionário da instância antes de interpretar o resultado.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Receio de executar script de terceiro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aberto e auditável, somente leitura; permite revisão pela própria equipe antes de rodar.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Percepção de risco com dados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sem conteúdo de CI; execução somente leitura, sem efeito colateral.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Expectativa de remediação automática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224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diagnóstico avalia e prioriza; a remediação é uma etapa posterior, separada.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8280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CMDB BASELINE DIAGNOSTIC · VISÃO GERAL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8229600" y="48280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B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F6FB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49808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DC2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 EFEITO COBRA  ·  DELHI, ÍNDIA COLONIAL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1298448"/>
            <a:ext cx="7955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não recebe o que deseja.</a:t>
            </a:r>
            <a:endParaRPr lang="en-US" sz="36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recebe o que mede.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7269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9BB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Recompensa por cobra morta funcionou — até virarem fazendas de cobra. Cancelado o prêmio, os criadores soltaram tudo na rua: a cidade terminou com mais cobras do que no início.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069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9D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veredito vem da medição objetiva, nunca da percepção. A métrica mede o resultado — ela não pode ser o alvo, ou o número vira o objetivo e a base continua quebrada.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Pré-Assessment de CMDB como Acelerador de Vendas</dc:title>
  <dc:subject>PptxGenJS Presentation</dc:subject>
  <dc:creator>Consultoria ITOM/CMDB</dc:creator>
  <cp:lastModifiedBy>Consultoria ITOM/CMDB</cp:lastModifiedBy>
  <cp:revision>1</cp:revision>
  <dcterms:created xsi:type="dcterms:W3CDTF">2026-06-08T12:11:21Z</dcterms:created>
  <dcterms:modified xsi:type="dcterms:W3CDTF">2026-06-08T12:11:21Z</dcterms:modified>
</cp:coreProperties>
</file>